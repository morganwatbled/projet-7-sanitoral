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Fira Sans Extra Condensed Medium"/>
      <p:regular r:id="rId14"/>
      <p:bold r:id="rId15"/>
      <p:italic r:id="rId16"/>
      <p:boldItalic r:id="rId17"/>
    </p:embeddedFont>
    <p:embeddedFont>
      <p:font typeface="Fira Sans Extra Condensed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FiraSansExtraCondensed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FiraSansExtraCondensed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FiraSansExtraCondensedMedium-bold.fntdata"/><Relationship Id="rId14" Type="http://schemas.openxmlformats.org/officeDocument/2006/relationships/font" Target="fonts/FiraSansExtraCondensedMedium-regular.fntdata"/><Relationship Id="rId17" Type="http://schemas.openxmlformats.org/officeDocument/2006/relationships/font" Target="fonts/FiraSansExtraCondensedMedium-boldItalic.fntdata"/><Relationship Id="rId16" Type="http://schemas.openxmlformats.org/officeDocument/2006/relationships/font" Target="fonts/FiraSansExtraCondensedMedium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FiraSansExtraCondensed-bold.fntdata"/><Relationship Id="rId6" Type="http://schemas.openxmlformats.org/officeDocument/2006/relationships/slide" Target="slides/slide1.xml"/><Relationship Id="rId18" Type="http://schemas.openxmlformats.org/officeDocument/2006/relationships/font" Target="fonts/FiraSansExtraCondensed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896abb2d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896abb2d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c9ae13e84c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c9ae13e84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c9ae13e84c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c9ae13e84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c9ae13e84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c9ae13e84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c896abb2d4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c896abb2d4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c896abb2d4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c896abb2d4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c9444bfb7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c9444bfb7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Relationship Id="rId5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73800" y="282800"/>
            <a:ext cx="85206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418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Mise en place du Dashboard Power BI – Sanitoral</a:t>
            </a:r>
            <a:endParaRPr sz="418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pic>
        <p:nvPicPr>
          <p:cNvPr descr="Logo ESN Data"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1775" y="1987925"/>
            <a:ext cx="4651296" cy="18186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1415825" y="142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Les données utilisées pour la création du Dashboard</a:t>
            </a:r>
            <a:endParaRPr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9000" y="1978975"/>
            <a:ext cx="7726000" cy="118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9000" y="1581400"/>
            <a:ext cx="7725990" cy="26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6100" y="587775"/>
            <a:ext cx="7891796" cy="521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8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Ce modèle de product strategy nous aide à réaliser notre objectif</a:t>
            </a:r>
            <a:endParaRPr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550" y="905845"/>
            <a:ext cx="7361351" cy="2780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6475" y="3686100"/>
            <a:ext cx="7395425" cy="121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277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Le nettoyage de données va nous permettre de nous focaliser sur l’essentiel et ne pas avoir d’erreur</a:t>
            </a:r>
            <a:endParaRPr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/>
          <p:nvPr/>
        </p:nvSpPr>
        <p:spPr>
          <a:xfrm>
            <a:off x="2216547" y="1687875"/>
            <a:ext cx="479100" cy="456900"/>
          </a:xfrm>
          <a:prstGeom prst="ellipse">
            <a:avLst/>
          </a:prstGeom>
          <a:solidFill>
            <a:srgbClr val="A4C2F4"/>
          </a:solidFill>
          <a:ln cap="flat" cmpd="sng" w="10500">
            <a:solidFill>
              <a:srgbClr val="6D9E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850" lIns="100850" spcFirstLastPara="1" rIns="100850" wrap="square" tIns="100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544"/>
              <a:t>1</a:t>
            </a:r>
            <a:endParaRPr sz="1544"/>
          </a:p>
        </p:txBody>
      </p:sp>
      <p:sp>
        <p:nvSpPr>
          <p:cNvPr id="80" name="Google Shape;80;p16"/>
          <p:cNvSpPr/>
          <p:nvPr/>
        </p:nvSpPr>
        <p:spPr>
          <a:xfrm>
            <a:off x="6884652" y="1687875"/>
            <a:ext cx="479100" cy="456900"/>
          </a:xfrm>
          <a:prstGeom prst="ellipse">
            <a:avLst/>
          </a:prstGeom>
          <a:solidFill>
            <a:srgbClr val="EA9999"/>
          </a:solidFill>
          <a:ln cap="flat" cmpd="sng" w="105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850" lIns="100850" spcFirstLastPara="1" rIns="100850" wrap="square" tIns="100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544"/>
              <a:t>2</a:t>
            </a:r>
            <a:endParaRPr sz="1544"/>
          </a:p>
        </p:txBody>
      </p:sp>
      <p:sp>
        <p:nvSpPr>
          <p:cNvPr id="81" name="Google Shape;81;p16"/>
          <p:cNvSpPr txBox="1"/>
          <p:nvPr/>
        </p:nvSpPr>
        <p:spPr>
          <a:xfrm>
            <a:off x="1844292" y="2236910"/>
            <a:ext cx="1418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850" lIns="100850" spcFirstLastPara="1" rIns="100850" wrap="square" tIns="100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85">
                <a:solidFill>
                  <a:srgbClr val="595959"/>
                </a:solidFill>
              </a:rPr>
              <a:t>Colonnes</a:t>
            </a:r>
            <a:endParaRPr sz="1985">
              <a:solidFill>
                <a:srgbClr val="595959"/>
              </a:solidFill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1176025" y="2786744"/>
            <a:ext cx="2451600" cy="1455900"/>
          </a:xfrm>
          <a:prstGeom prst="rect">
            <a:avLst/>
          </a:prstGeom>
          <a:solidFill>
            <a:srgbClr val="FFFFFF"/>
          </a:solidFill>
          <a:ln cap="flat" cmpd="sng" w="105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850" lIns="100850" spcFirstLastPara="1" rIns="100850" wrap="square" tIns="100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544"/>
              <a:t>Supprime les données inutile : </a:t>
            </a:r>
            <a:endParaRPr sz="1544"/>
          </a:p>
          <a:p>
            <a:pPr indent="-350195" lvl="0" marL="504281" rtl="0" algn="l">
              <a:spcBef>
                <a:spcPts val="0"/>
              </a:spcBef>
              <a:spcAft>
                <a:spcPts val="0"/>
              </a:spcAft>
              <a:buSzPts val="1544"/>
              <a:buChar char="-"/>
            </a:pPr>
            <a:r>
              <a:rPr lang="fr" sz="1544"/>
              <a:t>Inutilisable pour analyse</a:t>
            </a:r>
            <a:endParaRPr sz="1544"/>
          </a:p>
        </p:txBody>
      </p:sp>
      <p:sp>
        <p:nvSpPr>
          <p:cNvPr id="83" name="Google Shape;83;p16"/>
          <p:cNvSpPr txBox="1"/>
          <p:nvPr/>
        </p:nvSpPr>
        <p:spPr>
          <a:xfrm>
            <a:off x="6642024" y="2236910"/>
            <a:ext cx="14181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850" lIns="100850" spcFirstLastPara="1" rIns="100850" wrap="square" tIns="100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85">
                <a:solidFill>
                  <a:srgbClr val="595959"/>
                </a:solidFill>
              </a:rPr>
              <a:t>Lignes</a:t>
            </a:r>
            <a:endParaRPr sz="1985">
              <a:solidFill>
                <a:srgbClr val="595959"/>
              </a:solidFill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5937111" y="2644901"/>
            <a:ext cx="2451600" cy="1455900"/>
          </a:xfrm>
          <a:prstGeom prst="rect">
            <a:avLst/>
          </a:prstGeom>
          <a:solidFill>
            <a:srgbClr val="FFFFFF"/>
          </a:solidFill>
          <a:ln cap="flat" cmpd="sng" w="105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850" lIns="100850" spcFirstLastPara="1" rIns="100850" wrap="square" tIns="100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544"/>
              <a:t>Supprime les données inutile : </a:t>
            </a:r>
            <a:endParaRPr sz="1544"/>
          </a:p>
          <a:p>
            <a:pPr indent="-350195" lvl="0" marL="504281" rtl="0" algn="l">
              <a:spcBef>
                <a:spcPts val="0"/>
              </a:spcBef>
              <a:spcAft>
                <a:spcPts val="0"/>
              </a:spcAft>
              <a:buSzPts val="1544"/>
              <a:buChar char="-"/>
            </a:pPr>
            <a:r>
              <a:rPr lang="fr" sz="1544"/>
              <a:t>Les doublons</a:t>
            </a:r>
            <a:endParaRPr sz="1544"/>
          </a:p>
          <a:p>
            <a:pPr indent="-350195" lvl="0" marL="504281" rtl="0" algn="l">
              <a:spcBef>
                <a:spcPts val="0"/>
              </a:spcBef>
              <a:spcAft>
                <a:spcPts val="0"/>
              </a:spcAft>
              <a:buSzPts val="1544"/>
              <a:buChar char="-"/>
            </a:pPr>
            <a:r>
              <a:rPr lang="fr" sz="1544"/>
              <a:t>Les valeurs négatif</a:t>
            </a:r>
            <a:endParaRPr sz="1544"/>
          </a:p>
          <a:p>
            <a:pPr indent="-350195" lvl="0" marL="504281" rtl="0" algn="l">
              <a:spcBef>
                <a:spcPts val="0"/>
              </a:spcBef>
              <a:spcAft>
                <a:spcPts val="0"/>
              </a:spcAft>
              <a:buSzPts val="1544"/>
              <a:buChar char="-"/>
            </a:pPr>
            <a:r>
              <a:rPr lang="fr" sz="1544"/>
              <a:t>Structuration de la BDD</a:t>
            </a:r>
            <a:endParaRPr sz="1544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311700" y="121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Toutes ces données récupérées dans le fichier Excel vont nous permettre de créer des tables</a:t>
            </a:r>
            <a:endParaRPr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90" name="Google Shape;9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2800" y="1104700"/>
            <a:ext cx="6578399" cy="16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7850" y="2825000"/>
            <a:ext cx="4699676" cy="194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37125" y="2825025"/>
            <a:ext cx="3489057" cy="194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type="title"/>
          </p:nvPr>
        </p:nvSpPr>
        <p:spPr>
          <a:xfrm>
            <a:off x="0" y="5330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Création de notre BDD sur POWER BI</a:t>
            </a:r>
            <a:endParaRPr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99" name="Google Shape;9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0" name="Google Shape;10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763" y="770787"/>
            <a:ext cx="7582467" cy="391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311700" y="189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Ces dashboards vont permettrent au directeur de pointer d’où viens le problème</a:t>
            </a:r>
            <a:endParaRPr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06" name="Google Shape;10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7" name="Google Shape;10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625" y="1000125"/>
            <a:ext cx="7314740" cy="414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4624" y="1000125"/>
            <a:ext cx="7387426" cy="420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4625" y="1056990"/>
            <a:ext cx="7387424" cy="40919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type="title"/>
          </p:nvPr>
        </p:nvSpPr>
        <p:spPr>
          <a:xfrm>
            <a:off x="439425" y="164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Cette Table, va nous aider à réaliser un Gantt pour pouvoir </a:t>
            </a:r>
            <a:r>
              <a:rPr lang="fr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planifier</a:t>
            </a:r>
            <a:r>
              <a:rPr lang="fr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 les projets</a:t>
            </a:r>
            <a:endParaRPr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15" name="Google Shape;115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8713" y="1371600"/>
            <a:ext cx="6886575" cy="240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